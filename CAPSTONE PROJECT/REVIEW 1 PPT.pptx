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D261CB-0CDB-413F-9C4E-9C31E0FB7E3B}" v="2" dt="2026-07-23T04:48:15.264"/>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thish G" userId="c94d1f0d0f971a9e" providerId="LiveId" clId="{EB801C06-4FC1-4C8B-A7AD-6FA2096B237C}"/>
    <pc:docChg chg="undo custSel addSld delSld modSld">
      <pc:chgData name="mothish G" userId="c94d1f0d0f971a9e" providerId="LiveId" clId="{EB801C06-4FC1-4C8B-A7AD-6FA2096B237C}" dt="2026-07-23T04:49:36.143" v="53" actId="22"/>
      <pc:docMkLst>
        <pc:docMk/>
      </pc:docMkLst>
      <pc:sldChg chg="modSp mod">
        <pc:chgData name="mothish G" userId="c94d1f0d0f971a9e" providerId="LiveId" clId="{EB801C06-4FC1-4C8B-A7AD-6FA2096B237C}" dt="2026-07-23T04:48:15.264" v="33"/>
        <pc:sldMkLst>
          <pc:docMk/>
          <pc:sldMk cId="3605920494" sldId="256"/>
        </pc:sldMkLst>
        <pc:spChg chg="mod">
          <ac:chgData name="mothish G" userId="c94d1f0d0f971a9e" providerId="LiveId" clId="{EB801C06-4FC1-4C8B-A7AD-6FA2096B237C}" dt="2026-07-23T04:48:15.264" v="33"/>
          <ac:spMkLst>
            <pc:docMk/>
            <pc:sldMk cId="3605920494" sldId="256"/>
            <ac:spMk id="7" creationId="{9C4A1195-BF08-0A70-3372-ADC083EF063F}"/>
          </ac:spMkLst>
        </pc:spChg>
      </pc:sldChg>
      <pc:sldChg chg="addSp delSp modSp new mod">
        <pc:chgData name="mothish G" userId="c94d1f0d0f971a9e" providerId="LiveId" clId="{EB801C06-4FC1-4C8B-A7AD-6FA2096B237C}" dt="2026-07-23T04:49:36.143" v="53" actId="22"/>
        <pc:sldMkLst>
          <pc:docMk/>
          <pc:sldMk cId="3235362666" sldId="263"/>
        </pc:sldMkLst>
        <pc:spChg chg="mod">
          <ac:chgData name="mothish G" userId="c94d1f0d0f971a9e" providerId="LiveId" clId="{EB801C06-4FC1-4C8B-A7AD-6FA2096B237C}" dt="2026-07-23T04:49:19.049" v="51" actId="1076"/>
          <ac:spMkLst>
            <pc:docMk/>
            <pc:sldMk cId="3235362666" sldId="263"/>
            <ac:spMk id="2" creationId="{A1884D1A-00F9-9126-BCFC-0D83074FF1FF}"/>
          </ac:spMkLst>
        </pc:spChg>
        <pc:spChg chg="del">
          <ac:chgData name="mothish G" userId="c94d1f0d0f971a9e" providerId="LiveId" clId="{EB801C06-4FC1-4C8B-A7AD-6FA2096B237C}" dt="2026-07-23T04:49:07.340" v="48" actId="478"/>
          <ac:spMkLst>
            <pc:docMk/>
            <pc:sldMk cId="3235362666" sldId="263"/>
            <ac:spMk id="3" creationId="{25085F0C-73C5-CFCB-FE23-95952EAB490A}"/>
          </ac:spMkLst>
        </pc:spChg>
        <pc:picChg chg="add">
          <ac:chgData name="mothish G" userId="c94d1f0d0f971a9e" providerId="LiveId" clId="{EB801C06-4FC1-4C8B-A7AD-6FA2096B237C}" dt="2026-07-23T04:49:27.900" v="52" actId="22"/>
          <ac:picMkLst>
            <pc:docMk/>
            <pc:sldMk cId="3235362666" sldId="263"/>
            <ac:picMk id="5" creationId="{71C977A6-CBBA-5CAD-A960-EBCAAF359533}"/>
          </ac:picMkLst>
        </pc:picChg>
        <pc:picChg chg="add">
          <ac:chgData name="mothish G" userId="c94d1f0d0f971a9e" providerId="LiveId" clId="{EB801C06-4FC1-4C8B-A7AD-6FA2096B237C}" dt="2026-07-23T04:49:36.143" v="53" actId="22"/>
          <ac:picMkLst>
            <pc:docMk/>
            <pc:sldMk cId="3235362666" sldId="263"/>
            <ac:picMk id="7" creationId="{1DC27244-29FC-EC7E-846F-AF7E1C467159}"/>
          </ac:picMkLst>
        </pc:picChg>
      </pc:sldChg>
      <pc:sldChg chg="new del">
        <pc:chgData name="mothish G" userId="c94d1f0d0f971a9e" providerId="LiveId" clId="{EB801C06-4FC1-4C8B-A7AD-6FA2096B237C}" dt="2026-07-23T04:48:37.192" v="35" actId="680"/>
        <pc:sldMkLst>
          <pc:docMk/>
          <pc:sldMk cId="4044220711"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AAC7-7608-7B14-0935-50D9870E25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8DB37B-2FAD-325C-814D-7B891E20CD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3439BA-14F9-33AF-E631-B094AA0807DC}"/>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5" name="Footer Placeholder 4">
            <a:extLst>
              <a:ext uri="{FF2B5EF4-FFF2-40B4-BE49-F238E27FC236}">
                <a16:creationId xmlns:a16="http://schemas.microsoft.com/office/drawing/2014/main" id="{14DE0436-7627-3C44-653E-FDC993B6DA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AA6822-C71B-D72F-02C1-C05EB0CF7164}"/>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50061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D0965-5ACD-75EC-B77A-81A7941D31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557806-A9B3-EF94-E8DF-721771CAC1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37C8F9-D9C4-120B-F562-89DBA13D6E9F}"/>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5" name="Footer Placeholder 4">
            <a:extLst>
              <a:ext uri="{FF2B5EF4-FFF2-40B4-BE49-F238E27FC236}">
                <a16:creationId xmlns:a16="http://schemas.microsoft.com/office/drawing/2014/main" id="{D6A38B6E-417E-5008-AD9F-FC555510B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8C5837-62AF-B75B-BA33-70A032766E3C}"/>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3457393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6314C-528C-9660-23DD-02E5C404C1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FC1C67-260F-45C8-DE7F-9707CCF961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C06BB9-88B5-DB4E-1C81-7FDF2C87D9A6}"/>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5" name="Footer Placeholder 4">
            <a:extLst>
              <a:ext uri="{FF2B5EF4-FFF2-40B4-BE49-F238E27FC236}">
                <a16:creationId xmlns:a16="http://schemas.microsoft.com/office/drawing/2014/main" id="{C8C555DC-7EDD-65B9-6EFA-92ED70643B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0476C2-7682-2399-C26B-29C35C689E26}"/>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191890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A4351-AFE1-1901-3B7C-1B23E4BC2A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8CC5CB-835F-CFFE-2B8B-A86518167A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C45344-F5AC-9D8A-BD3C-2F0FF717B0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D76966-0987-7C4D-9C3E-0D95158D33AB}"/>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6" name="Footer Placeholder 5">
            <a:extLst>
              <a:ext uri="{FF2B5EF4-FFF2-40B4-BE49-F238E27FC236}">
                <a16:creationId xmlns:a16="http://schemas.microsoft.com/office/drawing/2014/main" id="{39EAAACC-3704-2C2F-A54E-6EE12BAEB5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14194D-00B2-0D3F-0CDA-01E10B3A2BCD}"/>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4220489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78E0C-93B0-8481-41F9-50DE5E353F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2C2F2C-B271-818A-1383-9E6EE5BE0B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BDEFDA-0065-34FD-F05E-BDD988EFA4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144892-1FED-E913-2DA7-736A8BE50C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CC352C-1F85-A10C-5498-771801A439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D9F1DA-218D-FD96-4942-E2A6A7CC0B90}"/>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8" name="Footer Placeholder 7">
            <a:extLst>
              <a:ext uri="{FF2B5EF4-FFF2-40B4-BE49-F238E27FC236}">
                <a16:creationId xmlns:a16="http://schemas.microsoft.com/office/drawing/2014/main" id="{A12244CE-4775-666B-6FB4-B8FB5EBA0E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1AA456-6B0C-5836-8359-E6708BE625D1}"/>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1571843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1793A-39DF-E2C5-A5C9-9FA763ADD3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5AFB8B-1BF9-09BA-BE0A-7AD680E62CEA}"/>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4" name="Footer Placeholder 3">
            <a:extLst>
              <a:ext uri="{FF2B5EF4-FFF2-40B4-BE49-F238E27FC236}">
                <a16:creationId xmlns:a16="http://schemas.microsoft.com/office/drawing/2014/main" id="{831D6E05-CD50-5E01-DBCF-FF25DC5F03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12A9C5-1880-BF2B-5234-32DF1B50741F}"/>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161205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885ACE-39ED-A7A8-D7F1-E31A4FD1F14C}"/>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3" name="Footer Placeholder 2">
            <a:extLst>
              <a:ext uri="{FF2B5EF4-FFF2-40B4-BE49-F238E27FC236}">
                <a16:creationId xmlns:a16="http://schemas.microsoft.com/office/drawing/2014/main" id="{75E824D2-591E-B929-34F4-F4050070C1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C4F25A-F15F-D302-9DCC-889A196E0CFB}"/>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2589725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739F-AA53-51F7-8F79-EE1777294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2D77D1-D73C-6093-02FA-9525ED23B9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B26CD3A-132E-B0B9-B7A2-CBA8C593FE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EE1A60-0A00-FCF2-99DC-75F179DDB77C}"/>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6" name="Footer Placeholder 5">
            <a:extLst>
              <a:ext uri="{FF2B5EF4-FFF2-40B4-BE49-F238E27FC236}">
                <a16:creationId xmlns:a16="http://schemas.microsoft.com/office/drawing/2014/main" id="{044F2C2C-2AC8-9B9F-0583-642991FFF0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838E97-5020-D0EC-0642-FC0BCEA25488}"/>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526336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33ACD-0749-8A49-2AD7-983C38AA71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053143-A35F-41BF-4FC2-BC0EB57BE8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FACCCD-73B0-25AA-6119-40BA08270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82225-0822-9080-959A-728CBE25C71A}"/>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6" name="Footer Placeholder 5">
            <a:extLst>
              <a:ext uri="{FF2B5EF4-FFF2-40B4-BE49-F238E27FC236}">
                <a16:creationId xmlns:a16="http://schemas.microsoft.com/office/drawing/2014/main" id="{3DB8752F-6646-C066-9070-1DC7B4375A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A48078-CCDB-D3B4-0EB5-6B1CB51B98CD}"/>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2026953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9370-5D21-2C75-BEE6-C2D9161BA1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EA6DF0-8FB5-C44E-206D-EE7B8EF0F7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3DD128-9EC4-93FD-A681-AFFC8C4ECD09}"/>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5" name="Footer Placeholder 4">
            <a:extLst>
              <a:ext uri="{FF2B5EF4-FFF2-40B4-BE49-F238E27FC236}">
                <a16:creationId xmlns:a16="http://schemas.microsoft.com/office/drawing/2014/main" id="{BA1FB329-F271-5535-C526-B3D7DC7D50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627C3D-DBAC-6043-83A0-13BCD7E31833}"/>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973931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2F231-6ED2-72B3-29DA-A88B12933C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16F352-BDF8-BADA-CF5D-4AC93E213A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5BE4E8-85EB-0815-BEA9-4909F7BC1632}"/>
              </a:ext>
            </a:extLst>
          </p:cNvPr>
          <p:cNvSpPr>
            <a:spLocks noGrp="1"/>
          </p:cNvSpPr>
          <p:nvPr>
            <p:ph type="dt" sz="half" idx="10"/>
          </p:nvPr>
        </p:nvSpPr>
        <p:spPr/>
        <p:txBody>
          <a:bodyPr/>
          <a:lstStyle/>
          <a:p>
            <a:fld id="{844E5204-EF94-4B2B-A988-C4E6C062BC88}" type="datetimeFigureOut">
              <a:rPr lang="en-IN" smtClean="0"/>
              <a:t>23-07-2026</a:t>
            </a:fld>
            <a:endParaRPr lang="en-IN"/>
          </a:p>
        </p:txBody>
      </p:sp>
      <p:sp>
        <p:nvSpPr>
          <p:cNvPr id="5" name="Footer Placeholder 4">
            <a:extLst>
              <a:ext uri="{FF2B5EF4-FFF2-40B4-BE49-F238E27FC236}">
                <a16:creationId xmlns:a16="http://schemas.microsoft.com/office/drawing/2014/main" id="{985DAB91-5A66-3CCC-E6DC-130863DAEE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87DB4-0690-F919-3435-F9C0B66B464C}"/>
              </a:ext>
            </a:extLst>
          </p:cNvPr>
          <p:cNvSpPr>
            <a:spLocks noGrp="1"/>
          </p:cNvSpPr>
          <p:nvPr>
            <p:ph type="sldNum" sz="quarter" idx="12"/>
          </p:nvPr>
        </p:nvSpPr>
        <p:spPr/>
        <p:txBody>
          <a:bodyPr/>
          <a:lstStyle/>
          <a:p>
            <a:fld id="{4853088E-3C3C-4143-9880-E6B55A0C4901}" type="slidenum">
              <a:rPr lang="en-IN" smtClean="0"/>
              <a:t>‹#›</a:t>
            </a:fld>
            <a:endParaRPr lang="en-IN"/>
          </a:p>
        </p:txBody>
      </p:sp>
    </p:spTree>
    <p:extLst>
      <p:ext uri="{BB962C8B-B14F-4D97-AF65-F5344CB8AC3E}">
        <p14:creationId xmlns:p14="http://schemas.microsoft.com/office/powerpoint/2010/main" val="2348238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D1E393-2E63-F7EC-846D-02BB4A8C2B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9BDE4B-4CB8-A949-8236-F513BAF14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F24EB-5523-0397-C6F5-4C76C2A84A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4E5204-EF94-4B2B-A988-C4E6C062BC88}" type="datetimeFigureOut">
              <a:rPr lang="en-IN" smtClean="0"/>
              <a:t>23-07-2026</a:t>
            </a:fld>
            <a:endParaRPr lang="en-IN"/>
          </a:p>
        </p:txBody>
      </p:sp>
      <p:sp>
        <p:nvSpPr>
          <p:cNvPr id="5" name="Footer Placeholder 4">
            <a:extLst>
              <a:ext uri="{FF2B5EF4-FFF2-40B4-BE49-F238E27FC236}">
                <a16:creationId xmlns:a16="http://schemas.microsoft.com/office/drawing/2014/main" id="{ECBF28E4-A547-2BEE-D7D0-8369EFFD0F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304F6CF-773F-56E7-FE58-FE807C38B5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3088E-3C3C-4143-9880-E6B55A0C4901}" type="slidenum">
              <a:rPr lang="en-IN" smtClean="0"/>
              <a:t>‹#›</a:t>
            </a:fld>
            <a:endParaRPr lang="en-IN"/>
          </a:p>
        </p:txBody>
      </p:sp>
    </p:spTree>
    <p:extLst>
      <p:ext uri="{BB962C8B-B14F-4D97-AF65-F5344CB8AC3E}">
        <p14:creationId xmlns:p14="http://schemas.microsoft.com/office/powerpoint/2010/main" val="2193712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arxiv.org/abs/2408.05964?utm_source=chatgpt.com" TargetMode="External"/><Relationship Id="rId3" Type="http://schemas.openxmlformats.org/officeDocument/2006/relationships/image" Target="../media/image3.jpeg"/><Relationship Id="rId7" Type="http://schemas.openxmlformats.org/officeDocument/2006/relationships/hyperlink" Target="https://journal2.uad.ac.id/index.php/mf/article/view/13884?utm_source=chatgpt.com" TargetMode="Externa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hyperlink" Target="https://ascelibrary.org/doi/10.1061/JCEMD4.COENG-14985?utm_source=chatgpt.com" TargetMode="External"/><Relationship Id="rId5" Type="http://schemas.openxmlformats.org/officeDocument/2006/relationships/hyperlink" Target="https://jurnal-itsi.org/index.php/jitsi/article/view/238?utm_source=chatgpt.com" TargetMode="External"/><Relationship Id="rId4" Type="http://schemas.openxmlformats.org/officeDocument/2006/relationships/hyperlink" Target="https://www.sciencedirect.com/science/article/pii/S1877050924030990?utm_source=chatgpt.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E6B4E-D685-EBC8-5CE2-5C64DF640BD4}"/>
              </a:ext>
            </a:extLst>
          </p:cNvPr>
          <p:cNvSpPr>
            <a:spLocks noGrp="1"/>
          </p:cNvSpPr>
          <p:nvPr>
            <p:ph type="ctrTitle"/>
          </p:nvPr>
        </p:nvSpPr>
        <p:spPr/>
        <p:txBody>
          <a:bodyPr>
            <a:normAutofit/>
          </a:bodyPr>
          <a:lstStyle/>
          <a:p>
            <a:r>
              <a:rPr lang="en-IN" sz="3200" b="1" dirty="0">
                <a:latin typeface="Times New Roman" panose="02020603050405020304" pitchFamily="18" charset="0"/>
                <a:cs typeface="Times New Roman" panose="02020603050405020304" pitchFamily="18" charset="0"/>
              </a:rPr>
              <a:t>AI-Based Industrial Safety Helmet and PPE Compliance Monitoring </a:t>
            </a:r>
          </a:p>
        </p:txBody>
      </p:sp>
      <p:pic>
        <p:nvPicPr>
          <p:cNvPr id="5" name="Picture 4">
            <a:extLst>
              <a:ext uri="{FF2B5EF4-FFF2-40B4-BE49-F238E27FC236}">
                <a16:creationId xmlns:a16="http://schemas.microsoft.com/office/drawing/2014/main" id="{14D56C3F-9D1D-0D09-FFA6-4A9D11C4E0C9}"/>
              </a:ext>
            </a:extLst>
          </p:cNvPr>
          <p:cNvPicPr/>
          <p:nvPr/>
        </p:nvPicPr>
        <p:blipFill>
          <a:blip r:embed="rId2"/>
          <a:stretch>
            <a:fillRect/>
          </a:stretch>
        </p:blipFill>
        <p:spPr>
          <a:xfrm>
            <a:off x="1162869" y="379669"/>
            <a:ext cx="9328150" cy="1264555"/>
          </a:xfrm>
          <a:prstGeom prst="rect">
            <a:avLst/>
          </a:prstGeom>
        </p:spPr>
      </p:pic>
      <p:sp>
        <p:nvSpPr>
          <p:cNvPr id="7" name="TextBox 6">
            <a:extLst>
              <a:ext uri="{FF2B5EF4-FFF2-40B4-BE49-F238E27FC236}">
                <a16:creationId xmlns:a16="http://schemas.microsoft.com/office/drawing/2014/main" id="{9C4A1195-BF08-0A70-3372-ADC083EF063F}"/>
              </a:ext>
            </a:extLst>
          </p:cNvPr>
          <p:cNvSpPr txBox="1"/>
          <p:nvPr/>
        </p:nvSpPr>
        <p:spPr>
          <a:xfrm>
            <a:off x="1162869" y="4658419"/>
            <a:ext cx="9144000" cy="138499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Name: Mothish G, Mithun Raj S, Nithish Kumar K, Porchelvan S, Divyashree S</a:t>
            </a:r>
          </a:p>
          <a:p>
            <a:r>
              <a:rPr lang="en-US" sz="1600" dirty="0">
                <a:latin typeface="Times New Roman" panose="02020603050405020304" pitchFamily="18" charset="0"/>
                <a:cs typeface="Times New Roman" panose="02020603050405020304" pitchFamily="18" charset="0"/>
              </a:rPr>
              <a:t>Reg no:192421135, 192421156, 192521266, 192321181, 192421046</a:t>
            </a:r>
          </a:p>
          <a:p>
            <a:pPr algn="l"/>
            <a:r>
              <a:rPr lang="en-US" sz="1600" dirty="0">
                <a:latin typeface="Times New Roman" panose="02020603050405020304" pitchFamily="18" charset="0"/>
                <a:cs typeface="Times New Roman" panose="02020603050405020304" pitchFamily="18" charset="0"/>
              </a:rPr>
              <a:t>Course: ITA-0506 Computer Vision </a:t>
            </a:r>
          </a:p>
          <a:p>
            <a:r>
              <a:rPr lang="en-IN" dirty="0">
                <a:latin typeface="Times New Roman" panose="02020603050405020304" pitchFamily="18" charset="0"/>
                <a:cs typeface="Times New Roman" panose="02020603050405020304" pitchFamily="18" charset="0"/>
              </a:rPr>
              <a:t>Program Director : Dr. Sasi Rekha, Prof/CSE</a:t>
            </a:r>
            <a:br>
              <a:rPr lang="en-IN" sz="1600"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Faculty:- Mrs. R C Jeni Gracia, AP / CSE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5920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2934-95F0-1851-032C-B49A0039D2F1}"/>
              </a:ext>
            </a:extLst>
          </p:cNvPr>
          <p:cNvSpPr>
            <a:spLocks noGrp="1"/>
          </p:cNvSpPr>
          <p:nvPr>
            <p:ph type="title"/>
          </p:nvPr>
        </p:nvSpPr>
        <p:spPr/>
        <p:txBody>
          <a:bodyPr>
            <a:normAutofit/>
          </a:bodyPr>
          <a:lstStyle/>
          <a:p>
            <a:pPr algn="ctr"/>
            <a:r>
              <a:rPr lang="en-IN" sz="5400" dirty="0">
                <a:latin typeface="Times New Roman" panose="02020603050405020304" pitchFamily="18" charset="0"/>
                <a:cs typeface="Times New Roman" panose="02020603050405020304" pitchFamily="18" charset="0"/>
              </a:rPr>
              <a:t>Introduction</a:t>
            </a:r>
          </a:p>
        </p:txBody>
      </p:sp>
      <p:pic>
        <p:nvPicPr>
          <p:cNvPr id="5" name="Picture 4">
            <a:extLst>
              <a:ext uri="{FF2B5EF4-FFF2-40B4-BE49-F238E27FC236}">
                <a16:creationId xmlns:a16="http://schemas.microsoft.com/office/drawing/2014/main" id="{F30B0EEF-CD95-A5AC-73E4-9984A8856E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CAF58E1-F71F-2828-4D85-C3B1A7A36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019A774-AB48-597E-A744-52897DE6719F}"/>
              </a:ext>
            </a:extLst>
          </p:cNvPr>
          <p:cNvSpPr txBox="1"/>
          <p:nvPr/>
        </p:nvSpPr>
        <p:spPr>
          <a:xfrm>
            <a:off x="813816" y="2132088"/>
            <a:ext cx="10449306" cy="3416320"/>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Industrial safety is one of the most important aspects of manufacturing plants, construction sites, warehouses, and factories. Every year, thousands of workplace accidents occur because workers fail to wear the required </a:t>
            </a:r>
            <a:r>
              <a:rPr lang="en-IN" b="1" dirty="0">
                <a:latin typeface="Times New Roman" panose="02020603050405020304" pitchFamily="18" charset="0"/>
                <a:cs typeface="Times New Roman" panose="02020603050405020304" pitchFamily="18" charset="0"/>
              </a:rPr>
              <a:t>Personal Protective Equipment (PPE)</a:t>
            </a:r>
            <a:r>
              <a:rPr lang="en-IN" dirty="0">
                <a:latin typeface="Times New Roman" panose="02020603050405020304" pitchFamily="18" charset="0"/>
                <a:cs typeface="Times New Roman" panose="02020603050405020304" pitchFamily="18" charset="0"/>
              </a:rPr>
              <a:t> such as helmets, safety vests, gloves, goggles, and face masks.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safety monitoring relies on supervisors manually observing workers, which is time-consuming, </a:t>
            </a:r>
            <a:r>
              <a:rPr lang="en-IN" dirty="0" err="1">
                <a:latin typeface="Times New Roman" panose="02020603050405020304" pitchFamily="18" charset="0"/>
                <a:cs typeface="Times New Roman" panose="02020603050405020304" pitchFamily="18" charset="0"/>
              </a:rPr>
              <a:t>labor-intensive</a:t>
            </a:r>
            <a:r>
              <a:rPr lang="en-IN" dirty="0">
                <a:latin typeface="Times New Roman" panose="02020603050405020304" pitchFamily="18" charset="0"/>
                <a:cs typeface="Times New Roman" panose="02020603050405020304" pitchFamily="18" charset="0"/>
              </a:rPr>
              <a:t>, and prone to human error. Continuous monitoring becomes difficult in large industrial environments.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address this issue, this project proposes an </a:t>
            </a:r>
            <a:r>
              <a:rPr lang="en-IN" b="1" dirty="0">
                <a:latin typeface="Times New Roman" panose="02020603050405020304" pitchFamily="18" charset="0"/>
                <a:cs typeface="Times New Roman" panose="02020603050405020304" pitchFamily="18" charset="0"/>
              </a:rPr>
              <a:t>AI-Based Intelligent Industrial Safety Monitoring and PPE Compliance System</a:t>
            </a:r>
            <a:r>
              <a:rPr lang="en-IN" dirty="0">
                <a:latin typeface="Times New Roman" panose="02020603050405020304" pitchFamily="18" charset="0"/>
                <a:cs typeface="Times New Roman" panose="02020603050405020304" pitchFamily="18" charset="0"/>
              </a:rPr>
              <a:t> using </a:t>
            </a:r>
            <a:r>
              <a:rPr lang="en-IN" b="1" dirty="0">
                <a:latin typeface="Times New Roman" panose="02020603050405020304" pitchFamily="18" charset="0"/>
                <a:cs typeface="Times New Roman" panose="02020603050405020304" pitchFamily="18" charset="0"/>
              </a:rPr>
              <a:t>Computer Vision</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YOLO (You Only Look Once)</a:t>
            </a:r>
            <a:r>
              <a:rPr lang="en-IN" dirty="0">
                <a:latin typeface="Times New Roman" panose="02020603050405020304" pitchFamily="18" charset="0"/>
                <a:cs typeface="Times New Roman" panose="02020603050405020304" pitchFamily="18" charset="0"/>
              </a:rPr>
              <a:t>. The system automatically detects workers, identifies the required PPE, verifies safety compliance in real time, and immediately alerts supervisors if violations are detected.</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solution improves workplace safety, reduces accidents, and supports automated safety management.</a:t>
            </a:r>
          </a:p>
        </p:txBody>
      </p:sp>
    </p:spTree>
    <p:extLst>
      <p:ext uri="{BB962C8B-B14F-4D97-AF65-F5344CB8AC3E}">
        <p14:creationId xmlns:p14="http://schemas.microsoft.com/office/powerpoint/2010/main" val="3606761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A183C-076B-07E8-2216-11BE073F4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A8207-602D-E6BA-983D-2609979D7BA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Review</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D6F031-2F10-52EA-9739-F713BAE2E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031047B-49D2-68AF-F02A-0DB432639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03273511-3BB3-314A-E85E-919DAFCEA545}"/>
              </a:ext>
            </a:extLst>
          </p:cNvPr>
          <p:cNvGraphicFramePr>
            <a:graphicFrameLocks noGrp="1"/>
          </p:cNvGraphicFramePr>
          <p:nvPr>
            <p:extLst>
              <p:ext uri="{D42A27DB-BD31-4B8C-83A1-F6EECF244321}">
                <p14:modId xmlns:p14="http://schemas.microsoft.com/office/powerpoint/2010/main" val="257629936"/>
              </p:ext>
            </p:extLst>
          </p:nvPr>
        </p:nvGraphicFramePr>
        <p:xfrm>
          <a:off x="1517904" y="1027906"/>
          <a:ext cx="9023604" cy="5783454"/>
        </p:xfrm>
        <a:graphic>
          <a:graphicData uri="http://schemas.openxmlformats.org/drawingml/2006/table">
            <a:tbl>
              <a:tblPr>
                <a:tableStyleId>{3C2FFA5D-87B4-456A-9821-1D502468CF0F}</a:tableStyleId>
              </a:tblPr>
              <a:tblGrid>
                <a:gridCol w="1522984">
                  <a:extLst>
                    <a:ext uri="{9D8B030D-6E8A-4147-A177-3AD203B41FA5}">
                      <a16:colId xmlns:a16="http://schemas.microsoft.com/office/drawing/2014/main" val="375203110"/>
                    </a:ext>
                  </a:extLst>
                </a:gridCol>
                <a:gridCol w="1500124">
                  <a:extLst>
                    <a:ext uri="{9D8B030D-6E8A-4147-A177-3AD203B41FA5}">
                      <a16:colId xmlns:a16="http://schemas.microsoft.com/office/drawing/2014/main" val="1261987156"/>
                    </a:ext>
                  </a:extLst>
                </a:gridCol>
                <a:gridCol w="1500124">
                  <a:extLst>
                    <a:ext uri="{9D8B030D-6E8A-4147-A177-3AD203B41FA5}">
                      <a16:colId xmlns:a16="http://schemas.microsoft.com/office/drawing/2014/main" val="2171045276"/>
                    </a:ext>
                  </a:extLst>
                </a:gridCol>
                <a:gridCol w="1500124">
                  <a:extLst>
                    <a:ext uri="{9D8B030D-6E8A-4147-A177-3AD203B41FA5}">
                      <a16:colId xmlns:a16="http://schemas.microsoft.com/office/drawing/2014/main" val="1933288952"/>
                    </a:ext>
                  </a:extLst>
                </a:gridCol>
                <a:gridCol w="1500124">
                  <a:extLst>
                    <a:ext uri="{9D8B030D-6E8A-4147-A177-3AD203B41FA5}">
                      <a16:colId xmlns:a16="http://schemas.microsoft.com/office/drawing/2014/main" val="1285855121"/>
                    </a:ext>
                  </a:extLst>
                </a:gridCol>
                <a:gridCol w="1500124">
                  <a:extLst>
                    <a:ext uri="{9D8B030D-6E8A-4147-A177-3AD203B41FA5}">
                      <a16:colId xmlns:a16="http://schemas.microsoft.com/office/drawing/2014/main" val="675941548"/>
                    </a:ext>
                  </a:extLst>
                </a:gridCol>
              </a:tblGrid>
              <a:tr h="609214">
                <a:tc>
                  <a:txBody>
                    <a:bodyPr/>
                    <a:lstStyle/>
                    <a:p>
                      <a:pPr algn="ctr">
                        <a:buNone/>
                      </a:pPr>
                      <a:r>
                        <a:rPr lang="en-IN" sz="1100" dirty="0"/>
                        <a:t>Year</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solidFill>
                      <a:schemeClr val="tx2">
                        <a:lumMod val="25000"/>
                        <a:lumOff val="75000"/>
                      </a:schemeClr>
                    </a:solidFill>
                  </a:tcPr>
                </a:tc>
                <a:tc>
                  <a:txBody>
                    <a:bodyPr/>
                    <a:lstStyle/>
                    <a:p>
                      <a:pPr algn="ctr">
                        <a:buNone/>
                      </a:pPr>
                      <a:r>
                        <a:rPr lang="en-IN" sz="1100"/>
                        <a:t>Author</a:t>
                      </a:r>
                      <a:endParaRPr lang="en-IN" sz="1100">
                        <a:latin typeface="Times New Roman" panose="02020603050405020304" pitchFamily="18" charset="0"/>
                        <a:cs typeface="Times New Roman" panose="02020603050405020304" pitchFamily="18" charset="0"/>
                      </a:endParaRPr>
                    </a:p>
                  </a:txBody>
                  <a:tcPr marL="29009" marR="29009" marT="14504" marB="14504" anchor="ctr">
                    <a:solidFill>
                      <a:schemeClr val="tx2">
                        <a:lumMod val="25000"/>
                        <a:lumOff val="75000"/>
                      </a:schemeClr>
                    </a:solidFill>
                  </a:tcPr>
                </a:tc>
                <a:tc>
                  <a:txBody>
                    <a:bodyPr/>
                    <a:lstStyle/>
                    <a:p>
                      <a:pPr algn="ctr">
                        <a:buNone/>
                      </a:pPr>
                      <a:r>
                        <a:rPr lang="en-IN" sz="1100"/>
                        <a:t>Title</a:t>
                      </a:r>
                      <a:endParaRPr lang="en-IN" sz="1100">
                        <a:latin typeface="Times New Roman" panose="02020603050405020304" pitchFamily="18" charset="0"/>
                        <a:cs typeface="Times New Roman" panose="02020603050405020304" pitchFamily="18" charset="0"/>
                      </a:endParaRPr>
                    </a:p>
                  </a:txBody>
                  <a:tcPr marL="29009" marR="29009" marT="14504" marB="14504" anchor="ctr">
                    <a:solidFill>
                      <a:schemeClr val="tx2">
                        <a:lumMod val="25000"/>
                        <a:lumOff val="75000"/>
                      </a:schemeClr>
                    </a:solidFill>
                  </a:tcPr>
                </a:tc>
                <a:tc>
                  <a:txBody>
                    <a:bodyPr/>
                    <a:lstStyle/>
                    <a:p>
                      <a:pPr algn="ctr">
                        <a:buNone/>
                      </a:pPr>
                      <a:r>
                        <a:rPr lang="en-IN" sz="1100"/>
                        <a:t>Technique Used</a:t>
                      </a:r>
                      <a:endParaRPr lang="en-IN" sz="1100">
                        <a:latin typeface="Times New Roman" panose="02020603050405020304" pitchFamily="18" charset="0"/>
                        <a:cs typeface="Times New Roman" panose="02020603050405020304" pitchFamily="18" charset="0"/>
                      </a:endParaRPr>
                    </a:p>
                  </a:txBody>
                  <a:tcPr marL="29009" marR="29009" marT="14504" marB="14504" anchor="ctr">
                    <a:solidFill>
                      <a:schemeClr val="tx2">
                        <a:lumMod val="25000"/>
                        <a:lumOff val="75000"/>
                      </a:schemeClr>
                    </a:solidFill>
                  </a:tcPr>
                </a:tc>
                <a:tc>
                  <a:txBody>
                    <a:bodyPr/>
                    <a:lstStyle/>
                    <a:p>
                      <a:pPr algn="ctr">
                        <a:buNone/>
                      </a:pPr>
                      <a:r>
                        <a:rPr lang="en-IN" sz="1100" dirty="0"/>
                        <a:t>Contribution</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solidFill>
                      <a:schemeClr val="tx2">
                        <a:lumMod val="25000"/>
                        <a:lumOff val="75000"/>
                      </a:schemeClr>
                    </a:solidFill>
                  </a:tcPr>
                </a:tc>
                <a:tc>
                  <a:txBody>
                    <a:bodyPr/>
                    <a:lstStyle/>
                    <a:p>
                      <a:pPr algn="ctr">
                        <a:buNone/>
                      </a:pPr>
                      <a:r>
                        <a:rPr lang="en-IN" sz="1100" dirty="0"/>
                        <a:t>Limitations</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solidFill>
                      <a:schemeClr val="tx2">
                        <a:lumMod val="25000"/>
                        <a:lumOff val="75000"/>
                      </a:schemeClr>
                    </a:solidFill>
                  </a:tcPr>
                </a:tc>
                <a:extLst>
                  <a:ext uri="{0D108BD9-81ED-4DB2-BD59-A6C34878D82A}">
                    <a16:rowId xmlns:a16="http://schemas.microsoft.com/office/drawing/2014/main" val="3698100194"/>
                  </a:ext>
                </a:extLst>
              </a:tr>
              <a:tr h="638196">
                <a:tc>
                  <a:txBody>
                    <a:bodyPr/>
                    <a:lstStyle/>
                    <a:p>
                      <a:pPr algn="ctr">
                        <a:buNone/>
                      </a:pPr>
                      <a:r>
                        <a:rPr lang="en-IN" sz="1100" b="1" dirty="0"/>
                        <a:t>2020</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Joseph Redmon et al.</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YOLOv4: Optimal Speed and Accuracy of Object Detection</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YOLOv4, CNN</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Improved real-time object detection with high accuracy for safety monitoring applications.</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Lower performance for small or heavily occluded objects. (</a:t>
                      </a:r>
                      <a:r>
                        <a:rPr lang="en-IN" sz="1100">
                          <a:hlinkClick r:id="rId4" tooltip="A real-time system for detecting personal protective equipment compliance using deep learning model YOLOv5 - ScienceDirect"/>
                        </a:rPr>
                        <a:t>ScienceDirect</a:t>
                      </a:r>
                      <a:r>
                        <a:rPr lang="en-IN" sz="1100"/>
                        <a:t>)</a:t>
                      </a:r>
                      <a:endParaRPr lang="en-IN" sz="1100">
                        <a:latin typeface="Times New Roman" panose="02020603050405020304" pitchFamily="18" charset="0"/>
                        <a:cs typeface="Times New Roman" panose="02020603050405020304" pitchFamily="18" charset="0"/>
                      </a:endParaRPr>
                    </a:p>
                  </a:txBody>
                  <a:tcPr marL="29009" marR="29009" marT="14504" marB="14504" anchor="ctr"/>
                </a:tc>
                <a:extLst>
                  <a:ext uri="{0D108BD9-81ED-4DB2-BD59-A6C34878D82A}">
                    <a16:rowId xmlns:a16="http://schemas.microsoft.com/office/drawing/2014/main" val="2351557687"/>
                  </a:ext>
                </a:extLst>
              </a:tr>
              <a:tr h="725223">
                <a:tc>
                  <a:txBody>
                    <a:bodyPr/>
                    <a:lstStyle/>
                    <a:p>
                      <a:pPr algn="ctr">
                        <a:buNone/>
                      </a:pPr>
                      <a:r>
                        <a:rPr lang="en-IN" sz="1100" b="1" dirty="0"/>
                        <a:t>2022</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Emin Guney, Husna Altin, Ayse Esra Asci et al.</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YOLO-Based Personal Protective Equipment Monitoring System for Workplace Safety</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YOLO-NAS, YOLOv8, YOLOv9, Deep Learning</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Detects PPE such as helmets, vests, and masks in real time to improve workplace safety.</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Performance depends on dataset quality and lighting conditions. (</a:t>
                      </a:r>
                      <a:r>
                        <a:rPr lang="en-IN" sz="1100" dirty="0" err="1">
                          <a:hlinkClick r:id="rId5" tooltip="YOLO-Based Personal Protective Equipment Monitoring System for Workplace Safety | JITSI : Jurnal Ilmiah Teknologi Sistem Informasi"/>
                        </a:rPr>
                        <a:t>Jurnal</a:t>
                      </a:r>
                      <a:r>
                        <a:rPr lang="en-IN" sz="1100" dirty="0">
                          <a:hlinkClick r:id="rId5" tooltip="YOLO-Based Personal Protective Equipment Monitoring System for Workplace Safety | JITSI : Jurnal Ilmiah Teknologi Sistem Informasi"/>
                        </a:rPr>
                        <a:t> ITSI</a:t>
                      </a:r>
                      <a:r>
                        <a:rPr lang="en-IN" sz="1100" dirty="0"/>
                        <a:t>)</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extLst>
                  <a:ext uri="{0D108BD9-81ED-4DB2-BD59-A6C34878D82A}">
                    <a16:rowId xmlns:a16="http://schemas.microsoft.com/office/drawing/2014/main" val="303126072"/>
                  </a:ext>
                </a:extLst>
              </a:tr>
              <a:tr h="986303">
                <a:tc>
                  <a:txBody>
                    <a:bodyPr/>
                    <a:lstStyle/>
                    <a:p>
                      <a:pPr algn="ctr">
                        <a:buNone/>
                      </a:pPr>
                      <a:r>
                        <a:rPr lang="en-IN" sz="1100" b="1"/>
                        <a:t>2024</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Doil Kim, Shuping Xiong</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Enhancing Worker Safety: Real-Time Automated Detection of Personal Protective Equipment Using Improved YOLOv8 and Edge Devices</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Improved YOLOv8, Edge Computing</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Enables real-time multiclass PPE detection on edge devices with enhanced accuracy.</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Requires powerful edge hardware for optimal performance. (</a:t>
                      </a:r>
                      <a:r>
                        <a:rPr lang="en-IN" sz="1100">
                          <a:hlinkClick r:id="rId6" tooltip="Enhancing Worker Safety: Real-Time Automated Detection of Personal Protective Equipment to Prevent Falls from Heights at Construction Sites Using Improved YOLOv8 and Edge Devices | Journal of Construction Engineering and Management | Vol 151, No 1"/>
                        </a:rPr>
                        <a:t>ASCE Library</a:t>
                      </a:r>
                      <a:r>
                        <a:rPr lang="en-IN" sz="1100"/>
                        <a:t>)</a:t>
                      </a:r>
                      <a:endParaRPr lang="en-IN" sz="1100">
                        <a:latin typeface="Times New Roman" panose="02020603050405020304" pitchFamily="18" charset="0"/>
                        <a:cs typeface="Times New Roman" panose="02020603050405020304" pitchFamily="18" charset="0"/>
                      </a:endParaRPr>
                    </a:p>
                  </a:txBody>
                  <a:tcPr marL="29009" marR="29009" marT="14504" marB="14504" anchor="ctr"/>
                </a:tc>
                <a:extLst>
                  <a:ext uri="{0D108BD9-81ED-4DB2-BD59-A6C34878D82A}">
                    <a16:rowId xmlns:a16="http://schemas.microsoft.com/office/drawing/2014/main" val="2142365316"/>
                  </a:ext>
                </a:extLst>
              </a:tr>
              <a:tr h="899276">
                <a:tc>
                  <a:txBody>
                    <a:bodyPr/>
                    <a:lstStyle/>
                    <a:p>
                      <a:pPr algn="ctr">
                        <a:buNone/>
                      </a:pPr>
                      <a:r>
                        <a:rPr lang="en-IN" sz="1100" b="1"/>
                        <a:t>2024</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Rendra Soekarta, Muhammad Yusuf et al.</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Implementation of Deep Learning for Personal Protective Equipment (PPE) Detection on Workers Using the YOLO Algorithm</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YOLOv5, Deep Learning</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Detects hard hats, coveralls, and other PPE for industrial worker safety.</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Limited PPE categories and requires a </a:t>
                      </a:r>
                      <a:r>
                        <a:rPr lang="en-IN" sz="1100" dirty="0" err="1"/>
                        <a:t>labeled</a:t>
                      </a:r>
                      <a:r>
                        <a:rPr lang="en-IN" sz="1100" dirty="0"/>
                        <a:t> dataset. (</a:t>
                      </a:r>
                      <a:r>
                        <a:rPr lang="en-IN" sz="1100" dirty="0">
                          <a:hlinkClick r:id="rId7" tooltip="Implementation of Deep Learning for Personal Protective Equipment (PPE) Detection on Workers Using the YOLO Algorithm | Mobile and Forensics"/>
                        </a:rPr>
                        <a:t>UAD Journals</a:t>
                      </a:r>
                      <a:r>
                        <a:rPr lang="en-IN" sz="1100" dirty="0"/>
                        <a:t>)</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extLst>
                  <a:ext uri="{0D108BD9-81ED-4DB2-BD59-A6C34878D82A}">
                    <a16:rowId xmlns:a16="http://schemas.microsoft.com/office/drawing/2014/main" val="615582222"/>
                  </a:ext>
                </a:extLst>
              </a:tr>
              <a:tr h="899276">
                <a:tc>
                  <a:txBody>
                    <a:bodyPr/>
                    <a:lstStyle/>
                    <a:p>
                      <a:pPr algn="ctr">
                        <a:buNone/>
                      </a:pPr>
                      <a:r>
                        <a:rPr lang="en-IN" sz="1100" b="1"/>
                        <a:t>2024</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Hao Liu, Xue Qin</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Target Detection of Safety Protective Gear Using the Improved YOLOv5</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Improved YOLOv5 with ECA Attention and EIoU Loss</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a:t>Improves detection accuracy for small and partially occluded PPE objects while maintaining real-time performance.</a:t>
                      </a:r>
                      <a:endParaRPr lang="en-IN" sz="1100">
                        <a:latin typeface="Times New Roman" panose="02020603050405020304" pitchFamily="18" charset="0"/>
                        <a:cs typeface="Times New Roman" panose="02020603050405020304" pitchFamily="18" charset="0"/>
                      </a:endParaRPr>
                    </a:p>
                  </a:txBody>
                  <a:tcPr marL="29009" marR="29009" marT="14504" marB="14504" anchor="ctr"/>
                </a:tc>
                <a:tc>
                  <a:txBody>
                    <a:bodyPr/>
                    <a:lstStyle/>
                    <a:p>
                      <a:pPr algn="ctr">
                        <a:buNone/>
                      </a:pPr>
                      <a:r>
                        <a:rPr lang="en-IN" sz="1100" dirty="0"/>
                        <a:t>Tested mainly on railway construction environments, limiting generalization. (</a:t>
                      </a:r>
                      <a:r>
                        <a:rPr lang="en-IN" sz="1100" dirty="0" err="1">
                          <a:hlinkClick r:id="rId8" tooltip="Target Detection of Safety Protective Gear Using the Improved YOLOv5"/>
                        </a:rPr>
                        <a:t>arXiv</a:t>
                      </a:r>
                      <a:r>
                        <a:rPr lang="en-IN" sz="1100" dirty="0"/>
                        <a:t>)</a:t>
                      </a:r>
                      <a:endParaRPr lang="en-IN" sz="1100" dirty="0">
                        <a:latin typeface="Times New Roman" panose="02020603050405020304" pitchFamily="18" charset="0"/>
                        <a:cs typeface="Times New Roman" panose="02020603050405020304" pitchFamily="18" charset="0"/>
                      </a:endParaRPr>
                    </a:p>
                  </a:txBody>
                  <a:tcPr marL="29009" marR="29009" marT="14504" marB="14504" anchor="ctr"/>
                </a:tc>
                <a:extLst>
                  <a:ext uri="{0D108BD9-81ED-4DB2-BD59-A6C34878D82A}">
                    <a16:rowId xmlns:a16="http://schemas.microsoft.com/office/drawing/2014/main" val="1317081502"/>
                  </a:ext>
                </a:extLst>
              </a:tr>
            </a:tbl>
          </a:graphicData>
        </a:graphic>
      </p:graphicFrame>
    </p:spTree>
    <p:extLst>
      <p:ext uri="{BB962C8B-B14F-4D97-AF65-F5344CB8AC3E}">
        <p14:creationId xmlns:p14="http://schemas.microsoft.com/office/powerpoint/2010/main" val="3917463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319D-599C-05CD-5A58-B75021B71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95DA2-E741-DB36-7141-502EDEF0F7C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Problem Statement</a:t>
            </a:r>
          </a:p>
        </p:txBody>
      </p:sp>
      <p:pic>
        <p:nvPicPr>
          <p:cNvPr id="5" name="Picture 4">
            <a:extLst>
              <a:ext uri="{FF2B5EF4-FFF2-40B4-BE49-F238E27FC236}">
                <a16:creationId xmlns:a16="http://schemas.microsoft.com/office/drawing/2014/main" id="{2AC8508A-FC79-F212-BED7-927B42FD4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E7A28B0-3414-D0B4-E15A-64B437370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1F3E784-8DC8-FFB5-1A73-9337AED1FFE6}"/>
              </a:ext>
            </a:extLst>
          </p:cNvPr>
          <p:cNvSpPr txBox="1"/>
          <p:nvPr/>
        </p:nvSpPr>
        <p:spPr>
          <a:xfrm>
            <a:off x="1133856" y="2275945"/>
            <a:ext cx="9089136" cy="3970318"/>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Industries continue to face safety challenges due to the absence of continuous automated monitoring.</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Current challenges include: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Manual safety inspections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Human errors during monitoring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Delayed identification of PPE violations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Lack of centralized monitoring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No real-time alerts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Increased workplace accidents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Time-consuming report preparation </a:t>
            </a:r>
          </a:p>
          <a:p>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Therefore, there is a need for an intelligent AI-based system that can automatically monitor workers, verify PPE compliance, generate alerts, and maintain digital safety records.</a:t>
            </a:r>
          </a:p>
        </p:txBody>
      </p:sp>
    </p:spTree>
    <p:extLst>
      <p:ext uri="{BB962C8B-B14F-4D97-AF65-F5344CB8AC3E}">
        <p14:creationId xmlns:p14="http://schemas.microsoft.com/office/powerpoint/2010/main" val="2428352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B6E51-0DDF-CBA2-AC4D-FA752B242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7CFF9-98A5-1341-6E50-D5344160676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Objectives</a:t>
            </a:r>
          </a:p>
        </p:txBody>
      </p:sp>
      <p:pic>
        <p:nvPicPr>
          <p:cNvPr id="5" name="Picture 4">
            <a:extLst>
              <a:ext uri="{FF2B5EF4-FFF2-40B4-BE49-F238E27FC236}">
                <a16:creationId xmlns:a16="http://schemas.microsoft.com/office/drawing/2014/main" id="{45E62819-FA62-C418-88DB-6FA6F2E9E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C52525E-BBFF-4E21-87C0-6A919ED17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613B13A-B182-CDF4-B55C-36AB78CE4AE0}"/>
              </a:ext>
            </a:extLst>
          </p:cNvPr>
          <p:cNvSpPr txBox="1"/>
          <p:nvPr/>
        </p:nvSpPr>
        <p:spPr>
          <a:xfrm>
            <a:off x="2123694" y="1842391"/>
            <a:ext cx="7084314" cy="4197559"/>
          </a:xfrm>
          <a:prstGeom prst="rect">
            <a:avLst/>
          </a:prstGeom>
          <a:noFill/>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The primary objectives of this project are:</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Detect workers in real time using CCTV or webcam.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Identify Personal Protective Equipment (PPE).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Verify PPE compliance automatically.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Detect missing safety equipment.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Generate instant alerts for violations.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Store violation records in a PostgreSQL database.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Display live monitoring through a web dashboard.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Generate daily, weekly, and monthly safety reports.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Improve workplace safety and reduce industrial accidents.</a:t>
            </a:r>
          </a:p>
        </p:txBody>
      </p:sp>
    </p:spTree>
    <p:extLst>
      <p:ext uri="{BB962C8B-B14F-4D97-AF65-F5344CB8AC3E}">
        <p14:creationId xmlns:p14="http://schemas.microsoft.com/office/powerpoint/2010/main" val="890107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B4816-E1BC-9162-36E8-592A8E8A0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8EC21-D9E4-87D5-D299-092FE20B990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Overall System Architecture</a:t>
            </a:r>
          </a:p>
        </p:txBody>
      </p:sp>
      <p:pic>
        <p:nvPicPr>
          <p:cNvPr id="5" name="Picture 4">
            <a:extLst>
              <a:ext uri="{FF2B5EF4-FFF2-40B4-BE49-F238E27FC236}">
                <a16:creationId xmlns:a16="http://schemas.microsoft.com/office/drawing/2014/main" id="{C015D1F7-A08D-CEDE-A963-7E0933851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53089B5-8EDC-AF1E-C3DC-0880D3D85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CF7A1E0-29CD-B55D-EEBF-1B8CA52C79F0}"/>
              </a:ext>
            </a:extLst>
          </p:cNvPr>
          <p:cNvPicPr>
            <a:picLocks noChangeAspect="1"/>
          </p:cNvPicPr>
          <p:nvPr/>
        </p:nvPicPr>
        <p:blipFill>
          <a:blip r:embed="rId4">
            <a:extLst>
              <a:ext uri="{28A0092B-C50C-407E-A947-70E740481C1C}">
                <a14:useLocalDpi xmlns:a14="http://schemas.microsoft.com/office/drawing/2010/main" val="0"/>
              </a:ext>
            </a:extLst>
          </a:blip>
          <a:srcRect t="12018"/>
          <a:stretch>
            <a:fillRect/>
          </a:stretch>
        </p:blipFill>
        <p:spPr>
          <a:xfrm>
            <a:off x="952500" y="1689100"/>
            <a:ext cx="10287000" cy="4764023"/>
          </a:xfrm>
          <a:prstGeom prst="rect">
            <a:avLst/>
          </a:prstGeom>
        </p:spPr>
      </p:pic>
    </p:spTree>
    <p:extLst>
      <p:ext uri="{BB962C8B-B14F-4D97-AF65-F5344CB8AC3E}">
        <p14:creationId xmlns:p14="http://schemas.microsoft.com/office/powerpoint/2010/main" val="3718553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E9CF-A97A-2511-7B0B-9075FF0D4AA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Modules Introduction</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1418B4-143D-5EE2-B36A-E39344F5EF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2808D53-E682-9655-8A40-6047084810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6200B2B-7EA6-D8BA-3626-12CD443E7504}"/>
              </a:ext>
            </a:extLst>
          </p:cNvPr>
          <p:cNvSpPr txBox="1"/>
          <p:nvPr/>
        </p:nvSpPr>
        <p:spPr>
          <a:xfrm>
            <a:off x="2006422" y="1855280"/>
            <a:ext cx="8664626" cy="4197559"/>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Module 1: User Management &amp; Camera Configuration</a:t>
            </a:r>
          </a:p>
          <a:p>
            <a:pPr>
              <a:lnSpc>
                <a:spcPct val="150000"/>
              </a:lnSpc>
            </a:pPr>
            <a:r>
              <a:rPr lang="en-IN" dirty="0">
                <a:latin typeface="Times New Roman" panose="02020603050405020304" pitchFamily="18" charset="0"/>
                <a:cs typeface="Times New Roman" panose="02020603050405020304" pitchFamily="18" charset="0"/>
              </a:rPr>
              <a:t>     Manages user login, roles, and CCTV camera setup for the monitoring system.</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Module 2: Real-Time Worker Detection &amp; Identification</a:t>
            </a:r>
          </a:p>
          <a:p>
            <a:pPr>
              <a:lnSpc>
                <a:spcPct val="150000"/>
              </a:lnSpc>
            </a:pPr>
            <a:r>
              <a:rPr lang="en-IN" dirty="0">
                <a:latin typeface="Times New Roman" panose="02020603050405020304" pitchFamily="18" charset="0"/>
                <a:cs typeface="Times New Roman" panose="02020603050405020304" pitchFamily="18" charset="0"/>
              </a:rPr>
              <a:t>     Detects workers from live video and identifies them for continuous monitoring.</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Module 3: PPE Compliance Monitoring</a:t>
            </a:r>
          </a:p>
          <a:p>
            <a:pPr>
              <a:lnSpc>
                <a:spcPct val="150000"/>
              </a:lnSpc>
            </a:pPr>
            <a:r>
              <a:rPr lang="en-IN" dirty="0">
                <a:latin typeface="Times New Roman" panose="02020603050405020304" pitchFamily="18" charset="0"/>
                <a:cs typeface="Times New Roman" panose="02020603050405020304" pitchFamily="18" charset="0"/>
              </a:rPr>
              <a:t>     Checks whether workers are wearing the required safety equipment using AI.</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Module 4: Safety Violation Detection &amp; Alert System</a:t>
            </a:r>
          </a:p>
          <a:p>
            <a:pPr>
              <a:lnSpc>
                <a:spcPct val="150000"/>
              </a:lnSpc>
            </a:pPr>
            <a:r>
              <a:rPr lang="en-IN" dirty="0">
                <a:latin typeface="Times New Roman" panose="02020603050405020304" pitchFamily="18" charset="0"/>
                <a:cs typeface="Times New Roman" panose="02020603050405020304" pitchFamily="18" charset="0"/>
              </a:rPr>
              <a:t>     Detects safety violations and sends instant alerts to supervisors.</a:t>
            </a:r>
          </a:p>
          <a:p>
            <a:pPr marL="28575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Module 5: Dashboard, Reports &amp; Analytics</a:t>
            </a:r>
          </a:p>
          <a:p>
            <a:pPr>
              <a:lnSpc>
                <a:spcPct val="150000"/>
              </a:lnSpc>
            </a:pPr>
            <a:r>
              <a:rPr lang="en-IN" dirty="0">
                <a:latin typeface="Times New Roman" panose="02020603050405020304" pitchFamily="18" charset="0"/>
                <a:cs typeface="Times New Roman" panose="02020603050405020304" pitchFamily="18" charset="0"/>
              </a:rPr>
              <a:t>     Displays live monitoring, violation history, and safety reports through a web dashboard.</a:t>
            </a:r>
          </a:p>
        </p:txBody>
      </p:sp>
    </p:spTree>
    <p:extLst>
      <p:ext uri="{BB962C8B-B14F-4D97-AF65-F5344CB8AC3E}">
        <p14:creationId xmlns:p14="http://schemas.microsoft.com/office/powerpoint/2010/main" val="1868140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4D1A-00F9-9126-BCFC-0D83074FF1FF}"/>
              </a:ext>
            </a:extLst>
          </p:cNvPr>
          <p:cNvSpPr>
            <a:spLocks noGrp="1"/>
          </p:cNvSpPr>
          <p:nvPr>
            <p:ph type="title"/>
          </p:nvPr>
        </p:nvSpPr>
        <p:spPr>
          <a:xfrm>
            <a:off x="3508248" y="2431669"/>
            <a:ext cx="5644896" cy="1325563"/>
          </a:xfrm>
        </p:spPr>
        <p:txBody>
          <a:bodyPr>
            <a:normAutofit/>
          </a:bodyPr>
          <a:lstStyle/>
          <a:p>
            <a:r>
              <a:rPr lang="en-US" sz="7200" dirty="0">
                <a:latin typeface="Algerian" panose="04020705040A02060702" pitchFamily="82" charset="0"/>
              </a:rPr>
              <a:t>THANK YOU</a:t>
            </a:r>
            <a:endParaRPr lang="en-IN" sz="7200" dirty="0">
              <a:latin typeface="Algerian" panose="04020705040A02060702" pitchFamily="82" charset="0"/>
            </a:endParaRPr>
          </a:p>
        </p:txBody>
      </p:sp>
      <p:pic>
        <p:nvPicPr>
          <p:cNvPr id="5" name="Picture 4">
            <a:extLst>
              <a:ext uri="{FF2B5EF4-FFF2-40B4-BE49-F238E27FC236}">
                <a16:creationId xmlns:a16="http://schemas.microsoft.com/office/drawing/2014/main" id="{71C977A6-CBBA-5CAD-A960-EBCAAF3595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91" y="282762"/>
            <a:ext cx="1085850" cy="13239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DC27244-29FC-EC7E-846F-AF7E1C467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7584" y="132144"/>
            <a:ext cx="1390650"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362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TotalTime>
  <Words>785</Words>
  <Application>Microsoft Office PowerPoint</Application>
  <PresentationFormat>Widescreen</PresentationFormat>
  <Paragraphs>84</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Algerian</vt:lpstr>
      <vt:lpstr>Aptos</vt:lpstr>
      <vt:lpstr>Aptos Display</vt:lpstr>
      <vt:lpstr>Arial</vt:lpstr>
      <vt:lpstr>Times New Roman</vt:lpstr>
      <vt:lpstr>Wingdings</vt:lpstr>
      <vt:lpstr>Office Theme</vt:lpstr>
      <vt:lpstr>AI-Based Industrial Safety Helmet and PPE Compliance Monitoring </vt:lpstr>
      <vt:lpstr>Introduction</vt:lpstr>
      <vt:lpstr>Literature Review </vt:lpstr>
      <vt:lpstr>Problem Statement</vt:lpstr>
      <vt:lpstr>Objectives</vt:lpstr>
      <vt:lpstr>Overall System Architecture</vt:lpstr>
      <vt:lpstr>Modules Introduction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mothish G</dc:creator>
  <cp:lastModifiedBy>mothish G</cp:lastModifiedBy>
  <cp:revision>2</cp:revision>
  <dcterms:created xsi:type="dcterms:W3CDTF">2026-07-23T02:41:37Z</dcterms:created>
  <dcterms:modified xsi:type="dcterms:W3CDTF">2026-07-23T05:14:15Z</dcterms:modified>
</cp:coreProperties>
</file>